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Delay (s/veh)</c:v>
                </c:pt>
              </c:strCache>
            </c:strRef>
          </c:tx>
          <c:spPr>
            <a:solidFill>
              <a:srgbClr val="30747A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A: Balanced Demand</c:v>
                </c:pt>
                <c:pt idx="1">
                  <c:v>B: East-West Heavy Demand</c:v>
                </c:pt>
                <c:pt idx="2">
                  <c:v>C: East-West Heavy Demand With Retiming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50.6</c:v>
                </c:pt>
                <c:pt idx="1">
                  <c:v>56.1</c:v>
                </c:pt>
                <c:pt idx="2">
                  <c:v>53.2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42E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s/veh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2DAE3"/>
            </a:solidFill>
          </a:ln>
        </c:spPr>
        <c:txPr>
          <a:bodyPr/>
          <a:lstStyle/>
          <a:p>
            <a:pPr>
              <a:defRPr sz="1000">
                <a:solidFill>
                  <a:srgbClr val="242E3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Maximum Queue (veh)</c:v>
                </c:pt>
              </c:strCache>
            </c:strRef>
          </c:tx>
          <c:spPr>
            <a:solidFill>
              <a:srgbClr val="D28737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A: Balanced Demand</c:v>
                </c:pt>
                <c:pt idx="1">
                  <c:v>B: East-West Heavy Demand</c:v>
                </c:pt>
                <c:pt idx="2">
                  <c:v>C: East-West Heavy Demand With Retiming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31.5</c:v>
                </c:pt>
                <c:pt idx="1">
                  <c:v>32.8</c:v>
                </c:pt>
                <c:pt idx="2">
                  <c:v>34.6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42E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vehicles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2DAE3"/>
            </a:solidFill>
          </a:ln>
        </c:spPr>
        <c:txPr>
          <a:bodyPr/>
          <a:lstStyle/>
          <a:p>
            <a:pPr>
              <a:defRPr sz="1000">
                <a:solidFill>
                  <a:srgbClr val="242E3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1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CEE 370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6120" y="1005840"/>
            <a:ext cx="79552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12F4E"/>
                </a:solidFill>
              </a:defRPr>
            </a:pPr>
            <a:r>
              <a:t>Intersection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3552" y="1783080"/>
            <a:ext cx="79552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42E38"/>
                </a:solidFill>
              </a:defRPr>
            </a:pPr>
            <a:r>
              <a:t>Academic presentation on the problem, methodology, simulation design, results, and future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743200"/>
            <a:ext cx="8183879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2999232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0747A"/>
                </a:solidFill>
              </a:defRPr>
            </a:pPr>
            <a:r>
              <a:t>Project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3273552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42E38"/>
                </a:solidFill>
              </a:defRPr>
            </a:pPr>
            <a:r>
              <a:t>Browser-based signalized intersection simulator for teaching traffic operations and control concepts.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484632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06D79"/>
                </a:solidFill>
              </a:defRPr>
            </a:pPr>
            <a:r>
              <a:t>Prepared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507492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42E38"/>
                </a:solidFill>
              </a:defRPr>
            </a:pPr>
            <a:r>
              <a:t>Transportation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84632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06D79"/>
                </a:solidFill>
              </a:defRPr>
            </a:pPr>
            <a:r>
              <a:t>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07492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42E38"/>
                </a:solidFill>
              </a:defRPr>
            </a:pPr>
            <a:r>
              <a:t>Dr. Kun Xie, Old Dominion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D79"/>
                </a:solidFill>
              </a:defRPr>
            </a:pPr>
            <a:r>
              <a:t>Intersection Simulator | Generated from local project files and reproducible scenario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57200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DCE7F0"/>
                </a:solidFill>
              </a:defRPr>
            </a:pPr>
            <a:r>
              <a:t>Why this simulator matters in a transportation fundamentals setting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22860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2F4E"/>
                </a:solidFill>
              </a:defRPr>
            </a:pPr>
            <a:r>
              <a:t>Core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42E38"/>
                </a:solidFill>
              </a:defRPr>
            </a:pPr>
            <a:r>
              <a:t>Students often learn signal timing, queueing, and delay from equations alone, without seeing the operational consequences in real time.</a:t>
            </a:r>
          </a:p>
          <a:p>
            <a:pPr>
              <a:spcAft>
                <a:spcPts val="800"/>
              </a:spcAft>
              <a:defRPr sz="1800">
                <a:solidFill>
                  <a:srgbClr val="242E38"/>
                </a:solidFill>
              </a:defRPr>
            </a:pPr>
            <a:r>
              <a:t>A compact classroom simulator can connect traffic engineering theory to observable system behavior at a four-leg signalized intersection.</a:t>
            </a:r>
          </a:p>
          <a:p>
            <a:pPr>
              <a:spcAft>
                <a:spcPts val="800"/>
              </a:spcAft>
              <a:defRPr sz="1800">
                <a:solidFill>
                  <a:srgbClr val="242E38"/>
                </a:solidFill>
              </a:defRPr>
            </a:pPr>
            <a:r>
              <a:t>The project is intended for concept exploration and instruction rather than high-fidelity field calibration.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4924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30747A"/>
                </a:solidFill>
              </a:defRPr>
            </a:pPr>
            <a:r>
              <a:t>Guiding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112F4E"/>
                </a:solidFill>
              </a:defRPr>
            </a:pPr>
            <a:r>
              <a:t>How do signal timing, arrival randomness, turning behavior, and vehicle mix influence queue formation and delay?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63240"/>
            <a:ext cx="22860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2F4E"/>
                </a:solidFill>
              </a:defRPr>
            </a:pPr>
            <a:r>
              <a:t>Project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401568"/>
            <a:ext cx="4846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2E38"/>
                </a:solidFill>
              </a:defRPr>
            </a:pPr>
            <a:r>
              <a:t>One inbound lane per approach</a:t>
            </a:r>
          </a:p>
          <a:p>
            <a:pPr>
              <a:spcAft>
                <a:spcPts val="800"/>
              </a:spcAft>
              <a:defRPr sz="1700">
                <a:solidFill>
                  <a:srgbClr val="242E38"/>
                </a:solidFill>
              </a:defRPr>
            </a:pPr>
            <a:r>
              <a:t>Two-phase signal control</a:t>
            </a:r>
          </a:p>
          <a:p>
            <a:pPr>
              <a:spcAft>
                <a:spcPts val="800"/>
              </a:spcAft>
              <a:defRPr sz="1700">
                <a:solidFill>
                  <a:srgbClr val="242E38"/>
                </a:solidFill>
              </a:defRPr>
            </a:pPr>
            <a:r>
              <a:t>User-adjustable demand and traffic composition</a:t>
            </a:r>
          </a:p>
          <a:p>
            <a:pPr>
              <a:spcAft>
                <a:spcPts val="800"/>
              </a:spcAft>
              <a:defRPr sz="1700">
                <a:solidFill>
                  <a:srgbClr val="242E38"/>
                </a:solidFill>
              </a:defRPr>
            </a:pPr>
            <a:r>
              <a:t>Live metrics for arrivals, departures, queue, and delay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D79"/>
                </a:solidFill>
              </a:defRPr>
            </a:pPr>
            <a:r>
              <a:t>Teaching focus: visualization, experimentation, and interpretation of traffic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57200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DCE7F0"/>
                </a:solidFill>
              </a:defRPr>
            </a:pPr>
            <a:r>
              <a:t>How the simulator translates engineering assumptions into dynamic system behavior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10972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26463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0747A"/>
                </a:solidFill>
              </a:defRPr>
            </a:pPr>
            <a:r>
              <a:t>1. Define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399031"/>
            <a:ext cx="8412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42E38"/>
                </a:solidFill>
              </a:defRPr>
            </a:pPr>
            <a:r>
              <a:t>Signal timings, arrival rates by approach, free-flow speed, left-turn ratio, large-vehicle ratio, and simulation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1097280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40864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0747A"/>
                </a:solidFill>
              </a:defRPr>
            </a:pPr>
            <a:r>
              <a:t>2. Generate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13432"/>
            <a:ext cx="8412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42E38"/>
                </a:solidFill>
              </a:defRPr>
            </a:pPr>
            <a:r>
              <a:t>Vehicle arrivals are sampled stochastically for each approach, creating natural variability in queue growth.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08960"/>
            <a:ext cx="10972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55264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0747A"/>
                </a:solidFill>
              </a:defRPr>
            </a:pPr>
            <a:r>
              <a:t>3. Update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27832"/>
            <a:ext cx="8412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42E38"/>
                </a:solidFill>
              </a:defRPr>
            </a:pPr>
            <a:r>
              <a:t>The controller alternates east-west and north-south phases with adjustable yellow clearance intervals.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23360"/>
            <a:ext cx="1097280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9664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0747A"/>
                </a:solidFill>
              </a:defRPr>
            </a:pPr>
            <a:r>
              <a:t>4. Move Vehicles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142232"/>
            <a:ext cx="8412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42E38"/>
                </a:solidFill>
              </a:defRPr>
            </a:pPr>
            <a:r>
              <a:t>Vehicles follow lane-based trajectories, obey car-following logic, and check permissive left-turn conflicts.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937760"/>
            <a:ext cx="10972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84064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0747A"/>
                </a:solidFill>
              </a:defRPr>
            </a:pPr>
            <a:r>
              <a:t>5. Compute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056632"/>
            <a:ext cx="8412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42E38"/>
                </a:solidFill>
              </a:defRPr>
            </a:pPr>
            <a:r>
              <a:t>The simulator continuously reports queue counts, average queue, maximum queue, and average delay.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080760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06D79"/>
                </a:solidFill>
              </a:defRPr>
            </a:pPr>
            <a:r>
              <a:t>Methodological emphasis: simple enough for classroom use, but rich enough to show the interaction between control, demand, and vehicle behavior.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D79"/>
                </a:solidFill>
              </a:defRPr>
            </a:pPr>
            <a:r>
              <a:t>Model class: interactive teaching simulator with stochastic arrivals and simplified operational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Simulation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57200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DCE7F0"/>
                </a:solidFill>
              </a:defRPr>
            </a:pPr>
            <a:r>
              <a:t>Geometry, control structure, and performance outputs represented in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70432"/>
            <a:ext cx="46634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0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2588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0747A"/>
                </a:solidFill>
              </a:defRPr>
            </a:pPr>
            <a:r>
              <a:t>Intersection Layout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834640"/>
            <a:ext cx="3657600" cy="868680"/>
          </a:xfrm>
          <a:prstGeom prst="rect">
            <a:avLst/>
          </a:prstGeom>
          <a:solidFill>
            <a:srgbClr val="5A6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41448" y="1783080"/>
            <a:ext cx="868680" cy="2926080"/>
          </a:xfrm>
          <a:prstGeom prst="rect">
            <a:avLst/>
          </a:prstGeom>
          <a:solidFill>
            <a:srgbClr val="5A6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94560" y="2487168"/>
            <a:ext cx="164592" cy="164592"/>
          </a:xfrm>
          <a:prstGeom prst="ellipse">
            <a:avLst/>
          </a:prstGeom>
          <a:solidFill>
            <a:srgbClr val="379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74720" y="2487168"/>
            <a:ext cx="164592" cy="164592"/>
          </a:xfrm>
          <a:prstGeom prst="ellipse">
            <a:avLst/>
          </a:prstGeom>
          <a:solidFill>
            <a:srgbClr val="A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4560" y="3931920"/>
            <a:ext cx="164592" cy="164592"/>
          </a:xfrm>
          <a:prstGeom prst="ellipse">
            <a:avLst/>
          </a:prstGeom>
          <a:solidFill>
            <a:srgbClr val="A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3931920"/>
            <a:ext cx="164592" cy="164592"/>
          </a:xfrm>
          <a:prstGeom prst="ellipse">
            <a:avLst/>
          </a:prstGeom>
          <a:solidFill>
            <a:srgbClr val="379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4688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154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1874519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456" y="4343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1335024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0747A"/>
                </a:solidFill>
              </a:defRPr>
            </a:pPr>
            <a:r>
              <a:t>Component 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783080"/>
            <a:ext cx="214884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1984248"/>
            <a:ext cx="1874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12F4E"/>
                </a:solidFill>
              </a:defRPr>
            </a:pPr>
            <a:r>
              <a:t>User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783080"/>
            <a:ext cx="214884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1984248"/>
            <a:ext cx="1874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12F4E"/>
                </a:solidFill>
              </a:defRPr>
            </a:pPr>
            <a:r>
              <a:t>Signal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2880360"/>
            <a:ext cx="214884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88152" y="3081528"/>
            <a:ext cx="1874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12F4E"/>
                </a:solidFill>
              </a:defRPr>
            </a:pPr>
            <a:r>
              <a:t>Vehicle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2880360"/>
            <a:ext cx="214884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3081528"/>
            <a:ext cx="1874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12F4E"/>
                </a:solidFill>
              </a:defRPr>
            </a:pPr>
            <a:r>
              <a:t>Movement + Yield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4023360"/>
            <a:ext cx="214884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1" y="4224528"/>
            <a:ext cx="1874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12F4E"/>
                </a:solidFill>
              </a:defRPr>
            </a:pPr>
            <a:r>
              <a:t>Performance Metrics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0" y="2139696"/>
            <a:ext cx="502920" cy="0"/>
          </a:xfrm>
          <a:prstGeom prst="line">
            <a:avLst/>
          </a:prstGeom>
          <a:ln w="19050">
            <a:solidFill>
              <a:srgbClr val="307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772400" y="3236976"/>
            <a:ext cx="502920" cy="0"/>
          </a:xfrm>
          <a:prstGeom prst="line">
            <a:avLst/>
          </a:prstGeom>
          <a:ln w="19050">
            <a:solidFill>
              <a:srgbClr val="307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75120" y="2496312"/>
            <a:ext cx="0" cy="384048"/>
          </a:xfrm>
          <a:prstGeom prst="line">
            <a:avLst/>
          </a:prstGeom>
          <a:ln w="19050">
            <a:solidFill>
              <a:srgbClr val="307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26880" y="2496312"/>
            <a:ext cx="0" cy="384048"/>
          </a:xfrm>
          <a:prstGeom prst="line">
            <a:avLst/>
          </a:prstGeom>
          <a:ln w="19050">
            <a:solidFill>
              <a:srgbClr val="307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43800" y="3593592"/>
            <a:ext cx="484631" cy="429768"/>
          </a:xfrm>
          <a:prstGeom prst="line">
            <a:avLst/>
          </a:prstGeom>
          <a:ln w="19050">
            <a:solidFill>
              <a:srgbClr val="307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915400" y="3593592"/>
            <a:ext cx="411480" cy="429768"/>
          </a:xfrm>
          <a:prstGeom prst="line">
            <a:avLst/>
          </a:prstGeom>
          <a:ln w="19050">
            <a:solidFill>
              <a:srgbClr val="307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23560" y="5074920"/>
            <a:ext cx="5349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42E38"/>
                </a:solidFill>
              </a:defRPr>
            </a:pPr>
            <a:r>
              <a:t>Outputs shown in the interface include arrivals, departures, current queue, average queue, maximum queue, and average delay.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D79"/>
                </a:solidFill>
              </a:defRPr>
            </a:pPr>
            <a:r>
              <a:t>Design intent: expose the major mechanisms of signalized intersection operation without unnecessary software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57200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DCE7F0"/>
                </a:solidFill>
              </a:defRPr>
            </a:pPr>
            <a:r>
              <a:t>Illustrative scenario analysis generated from the simulator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15568"/>
            <a:ext cx="20116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6187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D79"/>
                </a:solidFill>
              </a:defRPr>
            </a:pPr>
            <a:r>
              <a:t>Baseline Avg Delay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5087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28737"/>
                </a:solidFill>
              </a:defRPr>
            </a:pPr>
            <a:r>
              <a:t>50.6 s/veh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115568"/>
            <a:ext cx="20116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7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126187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D79"/>
                </a:solidFill>
              </a:defRPr>
            </a:pPr>
            <a:r>
              <a:t>Baseline Avg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15087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0747A"/>
                </a:solidFill>
              </a:defRPr>
            </a:pPr>
            <a:r>
              <a:t>14.7 veh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115568"/>
            <a:ext cx="20116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126187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D79"/>
                </a:solidFill>
              </a:defRPr>
            </a:pPr>
            <a:r>
              <a:t>Baseline Max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5087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DA2BE"/>
                </a:solidFill>
              </a:defRPr>
            </a:pPr>
            <a:r>
              <a:t>31.5 veh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115568"/>
            <a:ext cx="20116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2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68312" y="126187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D79"/>
                </a:solidFill>
              </a:defRPr>
            </a:pPr>
            <a:r>
              <a:t>Baseline Throughput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15087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F4E"/>
                </a:solidFill>
              </a:defRPr>
            </a:pPr>
            <a:r>
              <a:t>1569.6 veh/h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85800" y="2560320"/>
          <a:ext cx="521208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63640" y="2560320"/>
          <a:ext cx="516636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5074920"/>
          <a:ext cx="10744200" cy="1078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  <a:gridCol w="2148840"/>
              </a:tblGrid>
              <a:tr h="2697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12F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Timing (EW-Y-NS)</a:t>
                      </a:r>
                    </a:p>
                  </a:txBody>
                  <a:tcPr>
                    <a:solidFill>
                      <a:srgbClr val="112F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Demand (veh/h)</a:t>
                      </a:r>
                    </a:p>
                  </a:txBody>
                  <a:tcPr>
                    <a:solidFill>
                      <a:srgbClr val="112F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Avg Delay</a:t>
                      </a:r>
                    </a:p>
                  </a:txBody>
                  <a:tcPr>
                    <a:solidFill>
                      <a:srgbClr val="112F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112F4E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A: Balanced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30-5-30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EW 500/500, NS 500/500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50.6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1569.6 veh/h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B: East-West Heavy Demand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30-5-30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EW 750/750, NS 350/350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56.1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1515 veh/h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C: East-West Heavy Demand With Retiming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40-5-20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EW 750/750, NS 350/350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53.2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42E38"/>
                          </a:solidFill>
                        </a:defRPr>
                      </a:pPr>
                      <a:r>
                        <a:t>1615.5 veh/h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D79"/>
                </a:solidFill>
              </a:defRPr>
            </a:pPr>
            <a:r>
              <a:t>Ten replications per scenario over 1,200 simulated seconds. Results are illustrative and intended for instructional interpretation.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57200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DCE7F0"/>
                </a:solidFill>
              </a:defRPr>
            </a:pPr>
            <a:r>
              <a:t>What the scenario results suggest about system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577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42E38"/>
                </a:solidFill>
              </a:defRPr>
            </a:pPr>
            <a:r>
              <a:t>Under balanced demand, the default 30-5-30 timing produces moderate queues and delay, which is appropriate for classroom demonstration of stable operations.</a:t>
            </a:r>
          </a:p>
          <a:p>
            <a:pPr>
              <a:spcAft>
                <a:spcPts val="800"/>
              </a:spcAft>
              <a:defRPr sz="1800">
                <a:solidFill>
                  <a:srgbClr val="242E38"/>
                </a:solidFill>
              </a:defRPr>
            </a:pPr>
            <a:r>
              <a:t>When east-west demand is increased without retiming, delay and queue growth rise noticeably, showing the sensitivity of performance to volume imbalance.</a:t>
            </a:r>
          </a:p>
          <a:p>
            <a:pPr>
              <a:spcAft>
                <a:spcPts val="800"/>
              </a:spcAft>
              <a:defRPr sz="1800">
                <a:solidFill>
                  <a:srgbClr val="242E38"/>
                </a:solidFill>
              </a:defRPr>
            </a:pPr>
            <a:r>
              <a:t>Reallocating green time to a 40-5-20 split reduces average delay from 56.1 to 53.2 s/veh under the heavy east-west case.</a:t>
            </a:r>
          </a:p>
          <a:p>
            <a:pPr>
              <a:spcAft>
                <a:spcPts val="800"/>
              </a:spcAft>
              <a:defRPr sz="1800">
                <a:solidFill>
                  <a:srgbClr val="242E38"/>
                </a:solidFill>
              </a:defRPr>
            </a:pPr>
            <a:r>
              <a:t>The simulator therefore supports comparative reasoning about timing plans, not just passive visualization.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480060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73736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0747A"/>
                </a:solidFill>
              </a:defRPr>
            </a:pPr>
            <a:r>
              <a:t>Key Academic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057400"/>
            <a:ext cx="42519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Signal timing affects both queue accumulation and experienced delay.</a:t>
            </a:r>
          </a:p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Random arrivals create run-to-run variation, so replication matters.</a:t>
            </a:r>
          </a:p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Permissive left turns introduce interaction effects beyond simple green-red control.</a:t>
            </a:r>
          </a:p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The tool is best used to teach mechanisms and comparative trends.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D79"/>
                </a:solidFill>
              </a:defRPr>
            </a:pPr>
            <a:r>
              <a:t>Interpretation focus: relative differences and operational insight rather than field calibration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57200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DCE7F0"/>
                </a:solidFill>
              </a:defRPr>
            </a:pPr>
            <a:r>
              <a:t>Logical extensions for stronger analytical realism and classroom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0632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544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0747A"/>
                </a:solidFill>
              </a:defRPr>
            </a:pPr>
            <a:r>
              <a:t>Model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65960"/>
            <a:ext cx="269748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Add protected left-turn phasing and additional lane groups.</a:t>
            </a:r>
          </a:p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Represent pedestrian calls and more detailed clearance logic.</a:t>
            </a:r>
          </a:p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Introduce approach-specific turning proportions and heavy-vehicle effects.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325880"/>
            <a:ext cx="30632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5544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0747A"/>
                </a:solidFill>
              </a:defRPr>
            </a:pPr>
            <a:r>
              <a:t>Validation 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1965960"/>
            <a:ext cx="269748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Calibrate selected parameters against observed field data.</a:t>
            </a:r>
          </a:p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Add automated batch experiments, confidence intervals, and exportable reports.</a:t>
            </a:r>
          </a:p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Compare simulated measures with deterministic HCM-style calculations.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325880"/>
            <a:ext cx="30632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A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59" y="15544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0747A"/>
                </a:solidFill>
              </a:defRPr>
            </a:pPr>
            <a:r>
              <a:t>Instructional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1" y="1965960"/>
            <a:ext cx="269748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Save and reload classroom scenarios for lab exercises.</a:t>
            </a:r>
          </a:p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Add guided experiments that connect inputs to expected hypotheses.</a:t>
            </a:r>
          </a:p>
          <a:p>
            <a:pPr>
              <a:spcAft>
                <a:spcPts val="800"/>
              </a:spcAft>
              <a:defRPr sz="1600">
                <a:solidFill>
                  <a:srgbClr val="242E38"/>
                </a:solidFill>
              </a:defRPr>
            </a:pPr>
            <a:r>
              <a:t>Provide richer visual diagnostics such as phase timelines and queue heatmaps.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06D79"/>
                </a:solidFill>
              </a:defRPr>
            </a:pPr>
            <a:r>
              <a:t>Overall direction: preserve the simulator’s accessibility while increasing its analytical depth and instructional flexibility.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D79"/>
                </a:solidFill>
              </a:defRPr>
            </a:pPr>
            <a:r>
              <a:t>Future work balances usability, realism, and educational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